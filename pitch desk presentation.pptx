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63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235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D5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ДОБЫЧА РЕСУРСОВ И РОЛЬ НЕЙРОННЫХ СЕТЕЙ В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E8D5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СОЗДАНИИ КОСМИЧЕСКИХ КОЛОНИЙ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188720" cy="1188720"/>
          </a:xfrm>
          <a:prstGeom prst="rect">
            <a:avLst/>
          </a:prstGeom>
          <a:ln w="25400">
            <a:solidFill>
              <a:srgbClr val="8B25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137160" y="1051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2500"/>
                </a:solidFill>
              </a:rPr>
              <a:t>★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0876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2500"/>
                </a:solidFill>
              </a:rPr>
              <a:t>★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1097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2500"/>
                </a:solidFill>
              </a:rPr>
              <a:t>★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274320" y="41605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Авторы: Димаш, Бека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Раздел: Наука о Земле и космосе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1188720"/>
            <a:ext cx="9144000" cy="64008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D5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0" y="1252728"/>
            <a:ext cx="9144000" cy="3890772"/>
          </a:xfrm>
          <a:prstGeom prst="rect">
            <a:avLst/>
          </a:prstGeom>
          <a:solidFill>
            <a:srgbClr val="7A2E14"/>
          </a:solidFill>
          <a:ln w="12700">
            <a:solidFill>
              <a:srgbClr val="7A2E1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Поселение Марса - это мечта или необходимость?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Причины колонизации: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651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Выживание человека как вида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Развитие человека как вида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1188720"/>
            <a:ext cx="9144000" cy="64008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D5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GOALS AND IDEA OF THE PROJECT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0" y="1252728"/>
            <a:ext cx="9144000" cy="3890772"/>
          </a:xfrm>
          <a:prstGeom prst="rect">
            <a:avLst/>
          </a:prstGeom>
          <a:solidFill>
            <a:srgbClr val="7A2E14"/>
          </a:solidFill>
          <a:ln w="12700">
            <a:solidFill>
              <a:srgbClr val="7A2E1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Автономная колония для жизни на Марсе может быть построена путем захоронения предварительно доставленных жилых модулей в землю, а затем добычи ресурсов с помощью роботов, включая водяной лед.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78308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автономного робота для проведения строительных работ на Марсе и добычи ресурсов для функционирования колонии.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Работы проводятся в автономно режиме под управлением нейронной сети.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строительства мы получим полностью готовую для жизни колонию, которая будет заселена в дальнейшем.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Колонию можно масштабировать и увеличивать. Все помещения будут закопаны в грунт что обеспечит защиту от вредного космического излучения.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1188720"/>
            <a:ext cx="9144000" cy="64008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D5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SCHEME OF THE ROBOT DEVICE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0" y="1252728"/>
            <a:ext cx="9144000" cy="3890772"/>
          </a:xfrm>
          <a:prstGeom prst="rect">
            <a:avLst/>
          </a:prstGeom>
          <a:solidFill>
            <a:srgbClr val="7A2E14"/>
          </a:solidFill>
          <a:ln w="12700">
            <a:solidFill>
              <a:srgbClr val="7A2E1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части: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146304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робот-гусеница, предназначенный для земляных работ, перемещения почвы и размещения жилых модулей на таких планетах, как Марс. Он работает автономно и получает энергию от солнечных батарей.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Лопата-ковш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Предназначен для рытья земли. Дополнительные функции: толкание почвы, транспортировка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6517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Приводное колесо и натяжное колесо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Обеспечивает движение гусеницы.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2918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Тяговые механизмы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Используется для подъема и опускания лопатки.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9319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Электродвигатели ходовой части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Приводит в движение ходовую систему.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510">
              <a:alpha val="80000"/>
            </a:srgbClr>
          </a:solidFill>
          <a:ln w="12700">
            <a:solidFill>
              <a:srgbClr val="0D05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300" dirty="0">
                <a:solidFill>
                  <a:srgbClr val="E8D5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INITIAL STAGE: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E8D5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DELIVERY OF THE ROBOT AND RESIDENTIAL MODULES TO MARS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338328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доставки жилых модулей и автономных марсоходов на поверхность Марса необходимо использовать, например, SpaceX, которая предлагает отправить килограмм груза на Красную планету с ракетой Falcon Heavy за 6600 долларов за килограмм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3474720"/>
          </a:xfrm>
          <a:prstGeom prst="rect">
            <a:avLst/>
          </a:prstGeom>
          <a:solidFill>
            <a:srgbClr val="111111">
              <a:alpha val="80000"/>
            </a:srgbClr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484632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FALCON 9    vs    FALCON HEAVY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920240"/>
            <a:ext cx="393192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4800600" y="19659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1965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06640" y="19659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$90M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560320"/>
            <a:ext cx="3931920" cy="594360"/>
          </a:xfrm>
          <a:prstGeom prst="rect">
            <a:avLst/>
          </a:prstGeom>
          <a:solidFill>
            <a:srgbClr val="252525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4800600" y="2606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Payload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2606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22,800 kg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06640" y="2606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54,400 kg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200400"/>
            <a:ext cx="393192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4800600" y="3246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GTO Payload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3246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8,300 kg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06640" y="3246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22,200 kg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840480"/>
            <a:ext cx="3931920" cy="594360"/>
          </a:xfrm>
          <a:prstGeom prst="rect">
            <a:avLst/>
          </a:prstGeom>
          <a:solidFill>
            <a:srgbClr val="252525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4800600" y="3886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to Mars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3886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E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4,020 kg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06640" y="3886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13,600 kg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1188720"/>
            <a:ext cx="9144000" cy="64008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D5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0" y="1252728"/>
            <a:ext cx="9144000" cy="3890772"/>
          </a:xfrm>
          <a:prstGeom prst="rect">
            <a:avLst/>
          </a:prstGeom>
          <a:solidFill>
            <a:srgbClr val="7A2E14"/>
          </a:solidFill>
          <a:ln w="12700">
            <a:solidFill>
              <a:srgbClr val="7A2E1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Этапы строительства обитаемой колонии на Марсе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8595360" cy="36576"/>
          </a:xfrm>
          <a:prstGeom prst="rect">
            <a:avLst/>
          </a:prstGeom>
          <a:solidFill>
            <a:srgbClr val="E8D5B0">
              <a:alpha val="40000"/>
            </a:srgbClr>
          </a:solidFill>
          <a:ln w="12700">
            <a:solidFill>
              <a:srgbClr val="E8D5B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365760" y="199339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1: со спутника выбирается такая местность где ровный ландшафт, с мягким, сыпучим грунтом, пригодным для копания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67919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2: в выбранном месте осуществляется высадка робота на разгрузочную платформу.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36499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3: на съемочной платформе открывается аппарель.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05079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4: робот спускается с спускаемого устройства на платформе через аппарель, запускает все системы и определяет место проведения работ.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1188720"/>
            <a:ext cx="9144000" cy="64008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D5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0" y="1252728"/>
            <a:ext cx="9144000" cy="3890772"/>
          </a:xfrm>
          <a:prstGeom prst="rect">
            <a:avLst/>
          </a:prstGeom>
          <a:solidFill>
            <a:srgbClr val="7A2E14"/>
          </a:solidFill>
          <a:ln w="12700">
            <a:solidFill>
              <a:srgbClr val="7A2E1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128016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Нейронные сети и искусственный интеллект должны использоваться для обеспечения бесперебойной работы всей автономной системы с минимальным вмешательством человека.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2926080"/>
            <a:ext cx="7223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нашем проекте используется нейронная сеть, которая управляет строительством, контролирует уровень вырытой траншеи, порядок установки модулей и правильность захоронения модулей в грунте.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blem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1188720"/>
            <a:ext cx="9144000" cy="64008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D5B0"/>
                </a:solidFill>
                <a:latin typeface="Arial Black" pitchFamily="34" charset="0"/>
              </a:rPr>
              <a:t>PROBLEM</a:t>
            </a:r>
          </a:p>
        </p:txBody>
      </p:sp>
      <p:sp>
        <p:nvSpPr>
          <p:cNvPr id="5" name="Shape 3"/>
          <p:cNvSpPr/>
          <p:nvPr/>
        </p:nvSpPr>
        <p:spPr>
          <a:xfrm>
            <a:off x="0" y="1252728"/>
            <a:ext cx="9144000" cy="3890772"/>
          </a:xfrm>
          <a:prstGeom prst="rect">
            <a:avLst/>
          </a:prstGeom>
          <a:solidFill>
            <a:srgbClr val="7A2E14"/>
          </a:solidFill>
          <a:ln w="12700">
            <a:solidFill>
              <a:srgbClr val="7A2E1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48640" y="1550000"/>
            <a:ext cx="804672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700" b="1" dirty="0">
                <a:solidFill>
                  <a:srgbClr val="E8D5B0"/>
                </a:solidFill>
                <a:latin typeface="Arial" pitchFamily="34" charset="0"/>
              </a:rPr>
              <a:t>Колонизация Марса для будущих поколений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2200000"/>
            <a:ext cx="8046720" cy="2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u-RU" sz="1400" dirty="0">
                <a:solidFill>
                  <a:srgbClr val="E8D5B0"/>
                </a:solidFill>
                <a:latin typeface="Arial" pitchFamily="34" charset="0"/>
              </a:rPr>
              <a:t>Земля - единственный дом человечества, и это делает нас крайне уязвимыми. Астероиды, глобальные катастрофы, исчерпание ресурсов - любая из этих угроз может поставить под вопрос само существование нашего вида.</a:t>
            </a:r>
          </a:p>
          <a:p>
            <a:pPr marL="0" indent="0">
              <a:buNone/>
            </a:pPr>
            <a:r>
              <a:rPr lang="ru-RU" sz="1400" dirty="0">
                <a:solidFill>
                  <a:srgbClr val="E8D5B0"/>
                </a:solidFill>
                <a:latin typeface="Arial" pitchFamily="34" charset="0"/>
              </a:rPr>
              <a:t> </a:t>
            </a:r>
          </a:p>
          <a:p>
            <a:pPr marL="0" indent="0">
              <a:buNone/>
            </a:pPr>
            <a:r>
              <a:rPr lang="ru-RU" sz="1400" dirty="0">
                <a:solidFill>
                  <a:srgbClr val="E8D5B0"/>
                </a:solidFill>
                <a:latin typeface="Arial" pitchFamily="34" charset="0"/>
              </a:rPr>
              <a:t>Марс - ближайшая планета, пригодная для колонизации. Создание автономной базы на Марсе сегодня - это наследие для будущих поколений: второй шанс для человечества.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lution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1188720"/>
            <a:ext cx="9144000" cy="64008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D5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</a:t>
            </a:r>
          </a:p>
        </p:txBody>
      </p:sp>
      <p:sp>
        <p:nvSpPr>
          <p:cNvPr id="5" name="Shape 3"/>
          <p:cNvSpPr/>
          <p:nvPr/>
        </p:nvSpPr>
        <p:spPr>
          <a:xfrm>
            <a:off x="0" y="1252728"/>
            <a:ext cx="9144000" cy="3890772"/>
          </a:xfrm>
          <a:prstGeom prst="rect">
            <a:avLst/>
          </a:prstGeom>
          <a:solidFill>
            <a:srgbClr val="7A2E14"/>
          </a:solidFill>
          <a:ln w="12700">
            <a:solidFill>
              <a:srgbClr val="7A2E1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500" b="1" dirty="0">
                <a:solidFill>
                  <a:srgbClr val="E8D5B0"/>
                </a:solidFill>
                <a:latin typeface="Arial" pitchFamily="34" charset="0"/>
              </a:rPr>
              <a:t>Наше уникальное решение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2050000"/>
            <a:ext cx="822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F5EDD8"/>
                </a:solidFill>
                <a:latin typeface="Arial" pitchFamily="34" charset="0"/>
              </a:rPr>
              <a:t>🤖 Автономный робот-строитель</a:t>
            </a:r>
          </a:p>
        </p:txBody>
      </p:sp>
      <p:sp>
        <p:nvSpPr>
          <p:cNvPr id="8" name="Text 6"/>
          <p:cNvSpPr/>
          <p:nvPr/>
        </p:nvSpPr>
        <p:spPr>
          <a:xfrm>
            <a:off x="640080" y="2360000"/>
            <a:ext cx="804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D5B0"/>
                </a:solidFill>
                <a:latin typeface="Arial" pitchFamily="34" charset="0"/>
              </a:rPr>
              <a:t>Гусеничный робот с нейросетью строит колонию БЕЗ участия человека — копает, закапывает модули, добывает ресурсы.</a:t>
            </a:r>
          </a:p>
        </p:txBody>
      </p:sp>
      <p:sp>
        <p:nvSpPr>
          <p:cNvPr id="9" name="Text 7"/>
          <p:cNvSpPr/>
          <p:nvPr/>
        </p:nvSpPr>
        <p:spPr>
          <a:xfrm>
            <a:off x="457200" y="2740000"/>
            <a:ext cx="822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F5EDD8"/>
                </a:solidFill>
                <a:latin typeface="Arial" pitchFamily="34" charset="0"/>
              </a:rPr>
              <a:t>🏠 Подземные модули</a:t>
            </a:r>
          </a:p>
        </p:txBody>
      </p:sp>
      <p:sp>
        <p:nvSpPr>
          <p:cNvPr id="10" name="Text 8"/>
          <p:cNvSpPr/>
          <p:nvPr/>
        </p:nvSpPr>
        <p:spPr>
          <a:xfrm>
            <a:off x="640080" y="3050000"/>
            <a:ext cx="804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D5B0"/>
                </a:solidFill>
                <a:latin typeface="Arial" pitchFamily="34" charset="0"/>
              </a:rPr>
              <a:t>Жилые модули закапываются в грунт — защита от радиации, перепадов температуры и метеоритов.</a:t>
            </a:r>
          </a:p>
        </p:txBody>
      </p:sp>
      <p:sp>
        <p:nvSpPr>
          <p:cNvPr id="11" name="Text 9"/>
          <p:cNvSpPr/>
          <p:nvPr/>
        </p:nvSpPr>
        <p:spPr>
          <a:xfrm>
            <a:off x="457200" y="3430000"/>
            <a:ext cx="822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F5EDD8"/>
                </a:solidFill>
                <a:latin typeface="Arial" pitchFamily="34" charset="0"/>
              </a:rPr>
              <a:t>☀️ Солнечная энергия</a:t>
            </a:r>
          </a:p>
        </p:txBody>
      </p:sp>
      <p:sp>
        <p:nvSpPr>
          <p:cNvPr id="12" name="Text 10"/>
          <p:cNvSpPr/>
          <p:nvPr/>
        </p:nvSpPr>
        <p:spPr>
          <a:xfrm>
            <a:off x="640080" y="3740000"/>
            <a:ext cx="804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D5B0"/>
                </a:solidFill>
                <a:latin typeface="Arial" pitchFamily="34" charset="0"/>
              </a:rPr>
              <a:t>Робот работает от солнечных панелей — полная энергетическая автономность без топлива с Земли.</a:t>
            </a:r>
          </a:p>
        </p:txBody>
      </p:sp>
      <p:sp>
        <p:nvSpPr>
          <p:cNvPr id="13" name="Text 11"/>
          <p:cNvSpPr/>
          <p:nvPr/>
        </p:nvSpPr>
        <p:spPr>
          <a:xfrm>
            <a:off x="457200" y="4120000"/>
            <a:ext cx="822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F5EDD8"/>
                </a:solidFill>
                <a:latin typeface="Arial" pitchFamily="34" charset="0"/>
              </a:rPr>
              <a:t>📡 Управление нейросетью</a:t>
            </a:r>
          </a:p>
        </p:txBody>
      </p:sp>
      <p:sp>
        <p:nvSpPr>
          <p:cNvPr id="14" name="Text 12"/>
          <p:cNvSpPr/>
          <p:nvPr/>
        </p:nvSpPr>
        <p:spPr>
          <a:xfrm>
            <a:off x="640080" y="4430000"/>
            <a:ext cx="804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D5B0"/>
                </a:solidFill>
                <a:latin typeface="Arial" pitchFamily="34" charset="0"/>
              </a:rPr>
              <a:t>Вся система управляется ИИ в реальном времени — минимальное вмешательство оператора с Земли.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I Application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1188720"/>
            <a:ext cx="9144000" cy="64008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D5B0"/>
                </a:solidFill>
                <a:latin typeface="Arial Black" pitchFamily="34" charset="0"/>
              </a:rPr>
              <a:t>AI APPLICATION</a:t>
            </a:r>
          </a:p>
        </p:txBody>
      </p:sp>
      <p:sp>
        <p:nvSpPr>
          <p:cNvPr id="5" name="Shape 3"/>
          <p:cNvSpPr/>
          <p:nvPr/>
        </p:nvSpPr>
        <p:spPr>
          <a:xfrm>
            <a:off x="0" y="1252728"/>
            <a:ext cx="9144000" cy="3890772"/>
          </a:xfrm>
          <a:prstGeom prst="rect">
            <a:avLst/>
          </a:prstGeom>
          <a:solidFill>
            <a:srgbClr val="7A2E14"/>
          </a:solidFill>
          <a:ln w="12700">
            <a:solidFill>
              <a:srgbClr val="7A2E1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500" b="1" dirty="0">
                <a:solidFill>
                  <a:srgbClr val="E8D5B0"/>
                </a:solidFill>
                <a:latin typeface="Arial" pitchFamily="34" charset="0"/>
              </a:rPr>
              <a:t>Нейронная сеть: архитектура и функции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2050000"/>
            <a:ext cx="822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EDD8"/>
                </a:solidFill>
                <a:latin typeface="Arial" pitchFamily="34" charset="0"/>
              </a:rPr>
              <a:t>YOLOv3 - Компьютерное зрение</a:t>
            </a:r>
          </a:p>
        </p:txBody>
      </p:sp>
      <p:sp>
        <p:nvSpPr>
          <p:cNvPr id="8" name="Text 6"/>
          <p:cNvSpPr/>
          <p:nvPr/>
        </p:nvSpPr>
        <p:spPr>
          <a:xfrm>
            <a:off x="640080" y="2360000"/>
            <a:ext cx="804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D5B0"/>
                </a:solidFill>
                <a:latin typeface="Arial" pitchFamily="34" charset="0"/>
              </a:rPr>
              <a:t>Библиотека YOLOv3 обрабатывает видеопоток с камер робота в реальном времени - распознавание препятствий, типа грунта и контроль глубины траншеи.</a:t>
            </a:r>
          </a:p>
        </p:txBody>
      </p:sp>
      <p:sp>
        <p:nvSpPr>
          <p:cNvPr id="9" name="Text 7"/>
          <p:cNvSpPr/>
          <p:nvPr/>
        </p:nvSpPr>
        <p:spPr>
          <a:xfrm>
            <a:off x="457200" y="2740000"/>
            <a:ext cx="822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F5EDD8"/>
                </a:solidFill>
                <a:latin typeface="Arial" pitchFamily="34" charset="0"/>
              </a:rPr>
              <a:t>Автономное принятие решений</a:t>
            </a:r>
          </a:p>
        </p:txBody>
      </p:sp>
      <p:sp>
        <p:nvSpPr>
          <p:cNvPr id="10" name="Text 8"/>
          <p:cNvSpPr/>
          <p:nvPr/>
        </p:nvSpPr>
        <p:spPr>
          <a:xfrm>
            <a:off x="640080" y="3050000"/>
            <a:ext cx="804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D5B0"/>
                </a:solidFill>
                <a:latin typeface="Arial" pitchFamily="34" charset="0"/>
              </a:rPr>
              <a:t>На основе данных YOLOv3 нейронная сеть управляет движением робота, определяет место копания и контролирует установку жилых модулей без участия человека.</a:t>
            </a:r>
          </a:p>
        </p:txBody>
      </p:sp>
      <p:sp>
        <p:nvSpPr>
          <p:cNvPr id="11" name="Text 9"/>
          <p:cNvSpPr/>
          <p:nvPr/>
        </p:nvSpPr>
        <p:spPr>
          <a:xfrm>
            <a:off x="457200" y="3430000"/>
            <a:ext cx="822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F5EDD8"/>
                </a:solidFill>
                <a:latin typeface="Arial" pitchFamily="34" charset="0"/>
              </a:rPr>
              <a:t>Контроль строительства</a:t>
            </a:r>
          </a:p>
        </p:txBody>
      </p:sp>
      <p:sp>
        <p:nvSpPr>
          <p:cNvPr id="12" name="Text 10"/>
          <p:cNvSpPr/>
          <p:nvPr/>
        </p:nvSpPr>
        <p:spPr>
          <a:xfrm>
            <a:off x="640080" y="3740000"/>
            <a:ext cx="804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D5B0"/>
                </a:solidFill>
                <a:latin typeface="Arial" pitchFamily="34" charset="0"/>
              </a:rPr>
              <a:t>YOLOv3 следит за правильностью установки модулей: угол, глубина, порядок захоронения. Нейросеть корректирует действия робота в режиме реального времени.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chnical Implementation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1188720"/>
            <a:ext cx="9144000" cy="64008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D5B0"/>
                </a:solidFill>
                <a:latin typeface="Arial Black" pitchFamily="34" charset="0"/>
              </a:rPr>
              <a:t>TECHNICAL IMPLEMENTATION</a:t>
            </a:r>
          </a:p>
        </p:txBody>
      </p:sp>
      <p:sp>
        <p:nvSpPr>
          <p:cNvPr id="5" name="Shape 3"/>
          <p:cNvSpPr/>
          <p:nvPr/>
        </p:nvSpPr>
        <p:spPr>
          <a:xfrm>
            <a:off x="0" y="1252728"/>
            <a:ext cx="9144000" cy="3890772"/>
          </a:xfrm>
          <a:prstGeom prst="rect">
            <a:avLst/>
          </a:prstGeom>
          <a:solidFill>
            <a:srgbClr val="7A2E14"/>
          </a:solidFill>
          <a:ln w="12700">
            <a:solidFill>
              <a:srgbClr val="7A2E1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500" b="1" dirty="0">
                <a:solidFill>
                  <a:srgbClr val="E8D5B0"/>
                </a:solidFill>
                <a:latin typeface="Arial" pitchFamily="34" charset="0"/>
              </a:rPr>
              <a:t>MVP и технический стек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2050000"/>
            <a:ext cx="822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F5EDD8"/>
                </a:solidFill>
                <a:latin typeface="Arial" pitchFamily="34" charset="0"/>
              </a:rPr>
              <a:t>Прототип робота</a:t>
            </a:r>
          </a:p>
        </p:txBody>
      </p:sp>
      <p:sp>
        <p:nvSpPr>
          <p:cNvPr id="8" name="Text 6"/>
          <p:cNvSpPr/>
          <p:nvPr/>
        </p:nvSpPr>
        <p:spPr>
          <a:xfrm>
            <a:off x="640080" y="2360000"/>
            <a:ext cx="804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D5B0"/>
                </a:solidFill>
                <a:latin typeface="Arial" pitchFamily="34" charset="0"/>
              </a:rPr>
              <a:t>Физическая модель гусеничного робота в масштабе 1:5 с сервоприводами и лопатой-ковшом для земляных работ.</a:t>
            </a:r>
          </a:p>
        </p:txBody>
      </p:sp>
      <p:sp>
        <p:nvSpPr>
          <p:cNvPr id="9" name="Text 7"/>
          <p:cNvSpPr/>
          <p:nvPr/>
        </p:nvSpPr>
        <p:spPr>
          <a:xfrm>
            <a:off x="457200" y="2740000"/>
            <a:ext cx="822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F5EDD8"/>
                </a:solidFill>
                <a:latin typeface="Arial" pitchFamily="34" charset="0"/>
              </a:rPr>
              <a:t>Технологии и библиотеки</a:t>
            </a:r>
          </a:p>
        </p:txBody>
      </p:sp>
      <p:sp>
        <p:nvSpPr>
          <p:cNvPr id="10" name="Text 8"/>
          <p:cNvSpPr/>
          <p:nvPr/>
        </p:nvSpPr>
        <p:spPr>
          <a:xfrm>
            <a:off x="640080" y="3050000"/>
            <a:ext cx="804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D5B0"/>
                </a:solidFill>
                <a:latin typeface="Arial" pitchFamily="34" charset="0"/>
              </a:rPr>
              <a:t>Python + YOLOv3 для компьютерного зрения и управления роботом. Arduino для управления сервоприводами и двигателями.</a:t>
            </a:r>
          </a:p>
        </p:txBody>
      </p:sp>
      <p:sp>
        <p:nvSpPr>
          <p:cNvPr id="11" name="Text 9"/>
          <p:cNvSpPr/>
          <p:nvPr/>
        </p:nvSpPr>
        <p:spPr>
          <a:xfrm>
            <a:off x="457200" y="3430000"/>
            <a:ext cx="822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F5EDD8"/>
                </a:solidFill>
                <a:latin typeface="Arial" pitchFamily="34" charset="0"/>
              </a:rPr>
              <a:t>Результаты тестирования</a:t>
            </a:r>
          </a:p>
        </p:txBody>
      </p:sp>
      <p:sp>
        <p:nvSpPr>
          <p:cNvPr id="12" name="Text 10"/>
          <p:cNvSpPr/>
          <p:nvPr/>
        </p:nvSpPr>
        <p:spPr>
          <a:xfrm>
            <a:off x="640080" y="3740000"/>
            <a:ext cx="804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D5B0"/>
                </a:solidFill>
                <a:latin typeface="Arial" pitchFamily="34" charset="0"/>
              </a:rPr>
              <a:t>Робот успешно прорыл траншею глубиной 15 см, установил 1 модуль и засыпал грунтом за 8 минут в условиях тестирования.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rket Analysis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1188720"/>
            <a:ext cx="9144000" cy="64008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D5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ANALYSIS</a:t>
            </a:r>
          </a:p>
        </p:txBody>
      </p:sp>
      <p:sp>
        <p:nvSpPr>
          <p:cNvPr id="5" name="Shape 3"/>
          <p:cNvSpPr/>
          <p:nvPr/>
        </p:nvSpPr>
        <p:spPr>
          <a:xfrm>
            <a:off x="0" y="1252728"/>
            <a:ext cx="9144000" cy="3890772"/>
          </a:xfrm>
          <a:prstGeom prst="rect">
            <a:avLst/>
          </a:prstGeom>
          <a:solidFill>
            <a:srgbClr val="7A2E14"/>
          </a:solidFill>
          <a:ln w="12700">
            <a:solidFill>
              <a:srgbClr val="7A2E1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500" b="1" dirty="0">
                <a:solidFill>
                  <a:srgbClr val="E8D5B0"/>
                </a:solidFill>
                <a:latin typeface="Arial" pitchFamily="34" charset="0"/>
              </a:rPr>
              <a:t>Рынок космических технологий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2050000"/>
            <a:ext cx="822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F5EDD8"/>
                </a:solidFill>
                <a:latin typeface="Arial" pitchFamily="34" charset="0"/>
              </a:rPr>
              <a:t>📈 Объём рынка</a:t>
            </a:r>
          </a:p>
        </p:txBody>
      </p:sp>
      <p:sp>
        <p:nvSpPr>
          <p:cNvPr id="8" name="Text 6"/>
          <p:cNvSpPr/>
          <p:nvPr/>
        </p:nvSpPr>
        <p:spPr>
          <a:xfrm>
            <a:off x="640080" y="2360000"/>
            <a:ext cx="804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D5B0"/>
                </a:solidFill>
                <a:latin typeface="Arial" pitchFamily="34" charset="0"/>
              </a:rPr>
              <a:t>Глобальный рынок космической экономики — $546 млрд в 2024 году, прогноз $1+ трлн к 2040 году (Morgan Stanley).</a:t>
            </a:r>
          </a:p>
        </p:txBody>
      </p:sp>
      <p:sp>
        <p:nvSpPr>
          <p:cNvPr id="9" name="Text 7"/>
          <p:cNvSpPr/>
          <p:nvPr/>
        </p:nvSpPr>
        <p:spPr>
          <a:xfrm>
            <a:off x="457200" y="2740000"/>
            <a:ext cx="822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F5EDD8"/>
                </a:solidFill>
                <a:latin typeface="Arial" pitchFamily="34" charset="0"/>
              </a:rPr>
              <a:t>🏢 Целевые клиенты</a:t>
            </a:r>
          </a:p>
        </p:txBody>
      </p:sp>
      <p:sp>
        <p:nvSpPr>
          <p:cNvPr id="10" name="Text 8"/>
          <p:cNvSpPr/>
          <p:nvPr/>
        </p:nvSpPr>
        <p:spPr>
          <a:xfrm>
            <a:off x="640080" y="3050000"/>
            <a:ext cx="804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D5B0"/>
                </a:solidFill>
                <a:latin typeface="Arial" pitchFamily="34" charset="0"/>
              </a:rPr>
              <a:t>NASA, SpaceX, ESA, Blue Origin, частные инвесторы в космические технологии и добычу ресурсов.</a:t>
            </a:r>
          </a:p>
        </p:txBody>
      </p:sp>
      <p:sp>
        <p:nvSpPr>
          <p:cNvPr id="11" name="Text 9"/>
          <p:cNvSpPr/>
          <p:nvPr/>
        </p:nvSpPr>
        <p:spPr>
          <a:xfrm>
            <a:off x="457200" y="3430000"/>
            <a:ext cx="822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F5EDD8"/>
                </a:solidFill>
                <a:latin typeface="Arial" pitchFamily="34" charset="0"/>
              </a:rPr>
              <a:t>🌕 Рынок добычи ресурсов</a:t>
            </a:r>
          </a:p>
        </p:txBody>
      </p:sp>
      <p:sp>
        <p:nvSpPr>
          <p:cNvPr id="12" name="Text 10"/>
          <p:cNvSpPr/>
          <p:nvPr/>
        </p:nvSpPr>
        <p:spPr>
          <a:xfrm>
            <a:off x="640080" y="3740000"/>
            <a:ext cx="804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D5B0"/>
                </a:solidFill>
                <a:latin typeface="Arial" pitchFamily="34" charset="0"/>
              </a:rPr>
              <a:t>Рынок внеземной добычи ресурсов оценивается в $1,7 трлн — вода, редкие металлы, гелий-3.</a:t>
            </a:r>
          </a:p>
        </p:txBody>
      </p:sp>
      <p:sp>
        <p:nvSpPr>
          <p:cNvPr id="13" name="Text 11"/>
          <p:cNvSpPr/>
          <p:nvPr/>
        </p:nvSpPr>
        <p:spPr>
          <a:xfrm>
            <a:off x="457200" y="4120000"/>
            <a:ext cx="822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F5EDD8"/>
                </a:solidFill>
                <a:latin typeface="Arial" pitchFamily="34" charset="0"/>
              </a:rPr>
              <a:t>🚀 Тренд автономных миссий</a:t>
            </a:r>
          </a:p>
        </p:txBody>
      </p:sp>
      <p:sp>
        <p:nvSpPr>
          <p:cNvPr id="14" name="Text 12"/>
          <p:cNvSpPr/>
          <p:nvPr/>
        </p:nvSpPr>
        <p:spPr>
          <a:xfrm>
            <a:off x="640080" y="4430000"/>
            <a:ext cx="804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D5B0"/>
                </a:solidFill>
                <a:latin typeface="Arial" pitchFamily="34" charset="0"/>
              </a:rPr>
              <a:t>NASA и ESA активно финансируют автономную робототехнику — бюджет $2,6 млрд на 2025-2030 гг.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etitors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1188720"/>
            <a:ext cx="9144000" cy="64008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D5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COMPETITORS</a:t>
            </a:r>
          </a:p>
        </p:txBody>
      </p:sp>
      <p:sp>
        <p:nvSpPr>
          <p:cNvPr id="5" name="Shape 3"/>
          <p:cNvSpPr/>
          <p:nvPr/>
        </p:nvSpPr>
        <p:spPr>
          <a:xfrm>
            <a:off x="0" y="1252728"/>
            <a:ext cx="9144000" cy="3890772"/>
          </a:xfrm>
          <a:prstGeom prst="rect">
            <a:avLst/>
          </a:prstGeom>
          <a:solidFill>
            <a:srgbClr val="7A2E14"/>
          </a:solidFill>
          <a:ln w="12700">
            <a:solidFill>
              <a:srgbClr val="7A2E1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500" b="1" dirty="0">
                <a:solidFill>
                  <a:srgbClr val="E8D5B0"/>
                </a:solidFill>
                <a:latin typeface="Arial" pitchFamily="34" charset="0"/>
              </a:rPr>
              <a:t>Сравнение с конкурентами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2050000"/>
            <a:ext cx="822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F5EDD8"/>
                </a:solidFill>
                <a:latin typeface="Arial" pitchFamily="34" charset="0"/>
              </a:rPr>
              <a:t>🔴 NASA Perseverance Rover — исследование, не строительство</a:t>
            </a:r>
          </a:p>
        </p:txBody>
      </p:sp>
      <p:sp>
        <p:nvSpPr>
          <p:cNvPr id="8" name="Text 6"/>
          <p:cNvSpPr/>
          <p:nvPr/>
        </p:nvSpPr>
        <p:spPr>
          <a:xfrm>
            <a:off x="640080" y="2360000"/>
            <a:ext cx="804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D5B0"/>
                </a:solidFill>
                <a:latin typeface="Arial" pitchFamily="34" charset="0"/>
              </a:rPr>
              <a:t>Занимается геологическим анализом, НЕ умеет строить колонии или добывать ресурсы в промышленных масштабах.</a:t>
            </a:r>
          </a:p>
        </p:txBody>
      </p:sp>
      <p:sp>
        <p:nvSpPr>
          <p:cNvPr id="9" name="Text 7"/>
          <p:cNvSpPr/>
          <p:nvPr/>
        </p:nvSpPr>
        <p:spPr>
          <a:xfrm>
            <a:off x="457200" y="2740000"/>
            <a:ext cx="822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F5EDD8"/>
                </a:solidFill>
                <a:latin typeface="Arial" pitchFamily="34" charset="0"/>
              </a:rPr>
              <a:t>🔴 SpaceX Starship — доставка, не автономия</a:t>
            </a:r>
          </a:p>
        </p:txBody>
      </p:sp>
      <p:sp>
        <p:nvSpPr>
          <p:cNvPr id="10" name="Text 8"/>
          <p:cNvSpPr/>
          <p:nvPr/>
        </p:nvSpPr>
        <p:spPr>
          <a:xfrm>
            <a:off x="640080" y="3050000"/>
            <a:ext cx="804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D5B0"/>
                </a:solidFill>
                <a:latin typeface="Arial" pitchFamily="34" charset="0"/>
              </a:rPr>
              <a:t>Решает проблему доставки, но не строительства: нужны люди или отдельные роботы для возведения базы.</a:t>
            </a:r>
          </a:p>
        </p:txBody>
      </p:sp>
      <p:sp>
        <p:nvSpPr>
          <p:cNvPr id="11" name="Text 9"/>
          <p:cNvSpPr/>
          <p:nvPr/>
        </p:nvSpPr>
        <p:spPr>
          <a:xfrm>
            <a:off x="457200" y="3430000"/>
            <a:ext cx="822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F5EDD8"/>
                </a:solidFill>
                <a:latin typeface="Arial" pitchFamily="34" charset="0"/>
              </a:rPr>
              <a:t>🟡 ICON + NASA (проект ICON MMPD)</a:t>
            </a:r>
          </a:p>
        </p:txBody>
      </p:sp>
      <p:sp>
        <p:nvSpPr>
          <p:cNvPr id="12" name="Text 10"/>
          <p:cNvSpPr/>
          <p:nvPr/>
        </p:nvSpPr>
        <p:spPr>
          <a:xfrm>
            <a:off x="640080" y="3740000"/>
            <a:ext cx="804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D5B0"/>
                </a:solidFill>
                <a:latin typeface="Arial" pitchFamily="34" charset="0"/>
              </a:rPr>
              <a:t>Печатает здания на Луне/Марсе, но не автономен, требует предварительной подготовки платформы.</a:t>
            </a:r>
          </a:p>
        </p:txBody>
      </p:sp>
      <p:sp>
        <p:nvSpPr>
          <p:cNvPr id="13" name="Text 11"/>
          <p:cNvSpPr/>
          <p:nvPr/>
        </p:nvSpPr>
        <p:spPr>
          <a:xfrm>
            <a:off x="457200" y="4120000"/>
            <a:ext cx="822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F5EDD8"/>
                </a:solidFill>
                <a:latin typeface="Arial" pitchFamily="34" charset="0"/>
              </a:rPr>
              <a:t>🟢 НАШ ПРОЕКТ — полная автономия</a:t>
            </a:r>
          </a:p>
        </p:txBody>
      </p:sp>
      <p:sp>
        <p:nvSpPr>
          <p:cNvPr id="14" name="Text 12"/>
          <p:cNvSpPr/>
          <p:nvPr/>
        </p:nvSpPr>
        <p:spPr>
          <a:xfrm>
            <a:off x="640080" y="4430000"/>
            <a:ext cx="804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D5B0"/>
                </a:solidFill>
                <a:latin typeface="Arial" pitchFamily="34" charset="0"/>
              </a:rPr>
              <a:t>Единственное решение: один робот автономно копает, устанавливает, закапывает модули и добывает ресурсы.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usiness Model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1188720"/>
            <a:ext cx="9144000" cy="64008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D5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</a:p>
        </p:txBody>
      </p:sp>
      <p:sp>
        <p:nvSpPr>
          <p:cNvPr id="5" name="Shape 3"/>
          <p:cNvSpPr/>
          <p:nvPr/>
        </p:nvSpPr>
        <p:spPr>
          <a:xfrm>
            <a:off x="0" y="1252728"/>
            <a:ext cx="9144000" cy="3890772"/>
          </a:xfrm>
          <a:prstGeom prst="rect">
            <a:avLst/>
          </a:prstGeom>
          <a:solidFill>
            <a:srgbClr val="7A2E14"/>
          </a:solidFill>
          <a:ln w="12700">
            <a:solidFill>
              <a:srgbClr val="7A2E1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500" b="1" dirty="0">
                <a:solidFill>
                  <a:srgbClr val="E8D5B0"/>
                </a:solidFill>
                <a:latin typeface="Arial" pitchFamily="34" charset="0"/>
              </a:rPr>
              <a:t>Монетизация и масштабирование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2050000"/>
            <a:ext cx="822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F5EDD8"/>
                </a:solidFill>
                <a:latin typeface="Arial" pitchFamily="34" charset="0"/>
              </a:rPr>
              <a:t>💰 B2G — продажа технологии космическим агентствам</a:t>
            </a:r>
          </a:p>
        </p:txBody>
      </p:sp>
      <p:sp>
        <p:nvSpPr>
          <p:cNvPr id="8" name="Text 6"/>
          <p:cNvSpPr/>
          <p:nvPr/>
        </p:nvSpPr>
        <p:spPr>
          <a:xfrm>
            <a:off x="640080" y="2360000"/>
            <a:ext cx="804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D5B0"/>
                </a:solidFill>
                <a:latin typeface="Arial" pitchFamily="34" charset="0"/>
              </a:rPr>
              <a:t>Лицензирование роботизированной платформы NASA, ESA, Роскосмос — потенциал $50-200 млн за контракт.</a:t>
            </a:r>
          </a:p>
        </p:txBody>
      </p:sp>
      <p:sp>
        <p:nvSpPr>
          <p:cNvPr id="9" name="Text 7"/>
          <p:cNvSpPr/>
          <p:nvPr/>
        </p:nvSpPr>
        <p:spPr>
          <a:xfrm>
            <a:off x="457200" y="2740000"/>
            <a:ext cx="822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F5EDD8"/>
                </a:solidFill>
                <a:latin typeface="Arial" pitchFamily="34" charset="0"/>
              </a:rPr>
              <a:t>🏭 B2B — роботы для добычи ресурсов</a:t>
            </a:r>
          </a:p>
        </p:txBody>
      </p:sp>
      <p:sp>
        <p:nvSpPr>
          <p:cNvPr id="10" name="Text 8"/>
          <p:cNvSpPr/>
          <p:nvPr/>
        </p:nvSpPr>
        <p:spPr>
          <a:xfrm>
            <a:off x="640080" y="3050000"/>
            <a:ext cx="804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D5B0"/>
                </a:solidFill>
                <a:latin typeface="Arial" pitchFamily="34" charset="0"/>
              </a:rPr>
              <a:t>Аренда роботов частным компаниям для добычи лунного/марсианского льда и редких металлов.</a:t>
            </a:r>
          </a:p>
        </p:txBody>
      </p:sp>
      <p:sp>
        <p:nvSpPr>
          <p:cNvPr id="11" name="Text 9"/>
          <p:cNvSpPr/>
          <p:nvPr/>
        </p:nvSpPr>
        <p:spPr>
          <a:xfrm>
            <a:off x="457200" y="3430000"/>
            <a:ext cx="822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F5EDD8"/>
                </a:solidFill>
                <a:latin typeface="Arial" pitchFamily="34" charset="0"/>
              </a:rPr>
              <a:t>📦 Масштабирование</a:t>
            </a:r>
          </a:p>
        </p:txBody>
      </p:sp>
      <p:sp>
        <p:nvSpPr>
          <p:cNvPr id="12" name="Text 10"/>
          <p:cNvSpPr/>
          <p:nvPr/>
        </p:nvSpPr>
        <p:spPr>
          <a:xfrm>
            <a:off x="640080" y="3740000"/>
            <a:ext cx="804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D5B0"/>
                </a:solidFill>
                <a:latin typeface="Arial" pitchFamily="34" charset="0"/>
              </a:rPr>
              <a:t>Колония расширяется модульно: +1 робот = +5 жилых модулей в месяц. Нет предела по размеру базы.</a:t>
            </a:r>
          </a:p>
        </p:txBody>
      </p:sp>
      <p:sp>
        <p:nvSpPr>
          <p:cNvPr id="13" name="Text 11"/>
          <p:cNvSpPr/>
          <p:nvPr/>
        </p:nvSpPr>
        <p:spPr>
          <a:xfrm>
            <a:off x="457200" y="4120000"/>
            <a:ext cx="822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F5EDD8"/>
                </a:solidFill>
                <a:latin typeface="Arial" pitchFamily="34" charset="0"/>
              </a:rPr>
              <a:t>💵 Стоимость vs альтернативы</a:t>
            </a:r>
          </a:p>
        </p:txBody>
      </p:sp>
      <p:sp>
        <p:nvSpPr>
          <p:cNvPr id="14" name="Text 12"/>
          <p:cNvSpPr/>
          <p:nvPr/>
        </p:nvSpPr>
        <p:spPr>
          <a:xfrm>
            <a:off x="640080" y="4430000"/>
            <a:ext cx="804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rgbClr val="E8D5B0"/>
                </a:solidFill>
                <a:latin typeface="Arial" pitchFamily="34" charset="0"/>
              </a:rPr>
              <a:t>Наш робот: ~$2М. Пилотируемая миссия для той же работы: $500М+. Экономия в 250 раз.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2857500"/>
          </a:xfrm>
          <a:prstGeom prst="rect">
            <a:avLst/>
          </a:prstGeom>
          <a:solidFill>
            <a:srgbClr val="6B2010">
              <a:alpha val="70000"/>
            </a:srgbClr>
          </a:solidFill>
          <a:ln w="12700">
            <a:solidFill>
              <a:srgbClr val="6B20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·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45920" y="10058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·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0" y="4572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·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92240" y="7315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·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2743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·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12801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·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" y="19202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·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16459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·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0" y="10972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·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0" y="22860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·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1828800"/>
            <a:ext cx="4572000" cy="13716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2286000" y="187452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D5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2286000" y="2697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Your Attention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2500"/>
                </a:solidFill>
              </a:rPr>
              <a:t>★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2500"/>
                </a:solidFill>
              </a:rPr>
              <a:t>★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1033</Words>
  <Application>Microsoft Office PowerPoint</Application>
  <PresentationFormat>Экран (16:9)</PresentationFormat>
  <Paragraphs>139</Paragraphs>
  <Slides>15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Arial Black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Добыча ресурсов и роль нейронных сетей в создании космических колоний</dc:title>
  <dc:subject>PptxGenJS Presentation</dc:subject>
  <dc:creator>PptxGenJS</dc:creator>
  <cp:lastModifiedBy>Bekarys Erkanat</cp:lastModifiedBy>
  <cp:revision>1</cp:revision>
  <dcterms:created xsi:type="dcterms:W3CDTF">2026-02-28T16:33:33Z</dcterms:created>
  <dcterms:modified xsi:type="dcterms:W3CDTF">2026-02-28T17:15:13Z</dcterms:modified>
</cp:coreProperties>
</file>